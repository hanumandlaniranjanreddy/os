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256" r:id="rId2"/>
    <p:sldId id="464" r:id="rId3"/>
    <p:sldId id="465" r:id="rId4"/>
    <p:sldId id="466" r:id="rId5"/>
    <p:sldId id="467" r:id="rId6"/>
    <p:sldId id="468" r:id="rId7"/>
    <p:sldId id="473" r:id="rId8"/>
    <p:sldId id="469" r:id="rId9"/>
    <p:sldId id="475" r:id="rId10"/>
    <p:sldId id="476" r:id="rId11"/>
    <p:sldId id="470" r:id="rId12"/>
    <p:sldId id="472" r:id="rId13"/>
    <p:sldId id="474" r:id="rId14"/>
    <p:sldId id="29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8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showGuides="1">
      <p:cViewPr varScale="1">
        <p:scale>
          <a:sx n="89" d="100"/>
          <a:sy n="89" d="100"/>
        </p:scale>
        <p:origin x="46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07-04-2026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0230" y="434340"/>
            <a:ext cx="9511109" cy="2519591"/>
          </a:xfrm>
        </p:spPr>
        <p:txBody>
          <a:bodyPr>
            <a:normAutofit/>
          </a:bodyPr>
          <a:lstStyle/>
          <a:p>
            <a:pPr marR="0" lvl="0" indent="0" algn="ctr">
              <a:spcBef>
                <a:spcPts val="0"/>
              </a:spcBef>
              <a:spcAft>
                <a:spcPts val="0"/>
              </a:spcAft>
            </a:pPr>
            <a:r>
              <a:rPr lang="en-US" sz="3600" b="1" dirty="0">
                <a:solidFill>
                  <a:srgbClr val="C00000"/>
                </a:solidFill>
                <a:cs typeface="Poppins"/>
                <a:sym typeface="BioRhyme ExtraBold"/>
              </a:rPr>
              <a:t>COURSE NAME : </a:t>
            </a:r>
            <a:r>
              <a:rPr lang="en-US" sz="3600" b="1" dirty="0">
                <a:cs typeface="Poppins"/>
                <a:sym typeface="BioRhyme ExtraBold"/>
              </a:rPr>
              <a:t>Operating Systems</a:t>
            </a:r>
            <a:br>
              <a:rPr lang="en-US" sz="3600" b="1" dirty="0">
                <a:cs typeface="Poppins" panose="00000500000000000000" pitchFamily="2" charset="0"/>
              </a:rPr>
            </a:br>
            <a:r>
              <a:rPr lang="en-US" sz="3600" b="1" dirty="0">
                <a:cs typeface="Poppins"/>
                <a:sym typeface="BioRhyme ExtraBold"/>
              </a:rPr>
              <a:t> </a:t>
            </a:r>
            <a:br>
              <a:rPr lang="en-US" sz="3600" b="1" dirty="0">
                <a:cs typeface="Poppins" panose="00000500000000000000" pitchFamily="2" charset="0"/>
              </a:rPr>
            </a:br>
            <a:br>
              <a:rPr lang="en-IN" sz="3600" b="1" dirty="0"/>
            </a:br>
            <a:r>
              <a:rPr lang="en-IN" sz="3600" b="1" dirty="0"/>
              <a:t>  EVEN SEM.  2025-2026</a:t>
            </a:r>
            <a:endParaRPr lang="en-IN" sz="3600" dirty="0">
              <a:solidFill>
                <a:srgbClr val="FF0000"/>
              </a:solidFill>
              <a:highlight>
                <a:srgbClr val="FFFF00"/>
              </a:highlight>
            </a:endParaRPr>
          </a:p>
        </p:txBody>
      </p:sp>
      <p:sp>
        <p:nvSpPr>
          <p:cNvPr id="3" name="Subtitle 2"/>
          <p:cNvSpPr>
            <a:spLocks noGrp="1"/>
          </p:cNvSpPr>
          <p:nvPr>
            <p:ph type="subTitle" idx="1"/>
          </p:nvPr>
        </p:nvSpPr>
        <p:spPr>
          <a:xfrm>
            <a:off x="2411896" y="3658822"/>
            <a:ext cx="9008716" cy="2389536"/>
          </a:xfrm>
        </p:spPr>
        <p:txBody>
          <a:bodyPr>
            <a:normAutofit/>
          </a:bodyPr>
          <a:lstStyle/>
          <a:p>
            <a:pPr indent="457200"/>
            <a:r>
              <a:rPr lang="en-US" altLang="en-US" sz="2000" b="1" dirty="0">
                <a:solidFill>
                  <a:srgbClr val="002060"/>
                </a:solidFill>
              </a:rPr>
              <a:t>                                    Project Title</a:t>
            </a:r>
          </a:p>
          <a:p>
            <a:r>
              <a:rPr lang="en-US" altLang="en-US" sz="2000" b="1" dirty="0">
                <a:solidFill>
                  <a:srgbClr val="002060"/>
                </a:solidFill>
              </a:rPr>
              <a:t>                            Peer-to-Peer File Sharing 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
        <p:nvSpPr>
          <p:cNvPr id="7" name="Text Box 6"/>
          <p:cNvSpPr txBox="1"/>
          <p:nvPr/>
        </p:nvSpPr>
        <p:spPr>
          <a:xfrm>
            <a:off x="2164301" y="2336482"/>
            <a:ext cx="6083227" cy="2185035"/>
          </a:xfrm>
          <a:prstGeom prst="rect">
            <a:avLst/>
          </a:prstGeom>
        </p:spPr>
        <p:txBody>
          <a:bodyPr>
            <a:noAutofit/>
          </a:bodyPr>
          <a:lstStyle/>
          <a:p>
            <a:pPr marL="1813560" indent="0" algn="ctr" defTabSz="266700">
              <a:spcAft>
                <a:spcPct val="0"/>
              </a:spcAft>
            </a:pPr>
            <a:r>
              <a:rPr sz="2000" dirty="0">
                <a:latin typeface="Times New Roman" panose="02020603050405020304"/>
                <a:ea typeface="Times New Roman" panose="02020603050405020304"/>
              </a:rPr>
              <a:t>Submitted by</a:t>
            </a:r>
          </a:p>
          <a:p>
            <a:pPr marL="1813560" indent="0" algn="ctr" defTabSz="266700">
              <a:spcAft>
                <a:spcPct val="0"/>
              </a:spcAft>
            </a:pPr>
            <a:r>
              <a:rPr sz="2000" dirty="0">
                <a:latin typeface="Times New Roman" panose="02020603050405020304"/>
                <a:ea typeface="Times New Roman" panose="02020603050405020304"/>
              </a:rPr>
              <a:t> </a:t>
            </a:r>
            <a:endParaRPr lang="en-GB" sz="2000" dirty="0">
              <a:latin typeface="Times New Roman" panose="02020603050405020304"/>
              <a:ea typeface="Times New Roman" panose="02020603050405020304"/>
            </a:endParaRPr>
          </a:p>
          <a:p>
            <a:pPr marL="1813560" indent="0" algn="ctr" defTabSz="266700">
              <a:spcAft>
                <a:spcPct val="0"/>
              </a:spcAft>
            </a:pPr>
            <a:r>
              <a:rPr lang="en-GB" sz="2000" dirty="0">
                <a:latin typeface="Times New Roman" panose="02020603050405020304"/>
                <a:ea typeface="Times New Roman" panose="02020603050405020304"/>
              </a:rPr>
              <a:t>	J.Vaman-2420030736</a:t>
            </a:r>
          </a:p>
          <a:p>
            <a:pPr marL="1813560" indent="0" algn="ctr" defTabSz="266700">
              <a:spcAft>
                <a:spcPct val="0"/>
              </a:spcAft>
            </a:pPr>
            <a:r>
              <a:rPr lang="en-IN" sz="2000" dirty="0" err="1">
                <a:latin typeface="Times New Roman" panose="02020603050405020304"/>
                <a:ea typeface="Times New Roman" panose="02020603050405020304"/>
              </a:rPr>
              <a:t>H.Niranjan</a:t>
            </a:r>
            <a:r>
              <a:rPr sz="2000" dirty="0">
                <a:latin typeface="Times New Roman" panose="02020603050405020304"/>
                <a:ea typeface="Times New Roman" panose="02020603050405020304"/>
              </a:rPr>
              <a:t>-24200</a:t>
            </a:r>
            <a:r>
              <a:rPr lang="en-IN" sz="2000" dirty="0">
                <a:latin typeface="Times New Roman" panose="02020603050405020304"/>
                <a:ea typeface="Times New Roman" panose="02020603050405020304"/>
              </a:rPr>
              <a:t>90088</a:t>
            </a:r>
            <a:endParaRPr sz="2000" dirty="0">
              <a:latin typeface="Times New Roman" panose="02020603050405020304"/>
              <a:ea typeface="Times New Roman" panose="02020603050405020304"/>
            </a:endParaRPr>
          </a:p>
          <a:p>
            <a:pPr marL="1813560" indent="0" algn="ctr" defTabSz="266700">
              <a:spcAft>
                <a:spcPct val="0"/>
              </a:spcAft>
            </a:pPr>
            <a:r>
              <a:rPr lang="en-IN" sz="2000" dirty="0" err="1">
                <a:latin typeface="Times New Roman" panose="02020603050405020304"/>
                <a:ea typeface="Times New Roman" panose="02020603050405020304"/>
              </a:rPr>
              <a:t>M.Sathwik</a:t>
            </a:r>
            <a:r>
              <a:rPr lang="en-IN" sz="2000" dirty="0">
                <a:latin typeface="Times New Roman" panose="02020603050405020304"/>
                <a:ea typeface="Times New Roman" panose="02020603050405020304"/>
              </a:rPr>
              <a:t> </a:t>
            </a:r>
            <a:r>
              <a:rPr sz="2000" dirty="0">
                <a:latin typeface="Times New Roman" panose="02020603050405020304"/>
                <a:ea typeface="Times New Roman" panose="02020603050405020304"/>
              </a:rPr>
              <a:t>24200</a:t>
            </a:r>
            <a:r>
              <a:rPr lang="en-IN" sz="2000" dirty="0">
                <a:latin typeface="Times New Roman" panose="02020603050405020304"/>
                <a:ea typeface="Times New Roman" panose="02020603050405020304"/>
              </a:rPr>
              <a:t>90078</a:t>
            </a:r>
          </a:p>
          <a:p>
            <a:pPr marL="1813560" indent="0" algn="ctr" defTabSz="266700">
              <a:spcAft>
                <a:spcPct val="0"/>
              </a:spcAft>
            </a:pPr>
            <a:r>
              <a:rPr lang="en-IN" sz="2000" dirty="0">
                <a:latin typeface="Times New Roman" panose="02020603050405020304"/>
                <a:ea typeface="Times New Roman" panose="02020603050405020304"/>
              </a:rPr>
              <a:t>B.Hemanth-2420090071</a:t>
            </a:r>
          </a:p>
          <a:p>
            <a:pPr marL="1813560" indent="0" algn="ctr" defTabSz="266700">
              <a:spcAft>
                <a:spcPct val="0"/>
              </a:spcAft>
            </a:pPr>
            <a:r>
              <a:rPr lang="en-IN" sz="2000" dirty="0">
                <a:latin typeface="Times New Roman" panose="02020603050405020304"/>
                <a:ea typeface="Times New Roman" panose="02020603050405020304"/>
              </a:rPr>
              <a:t>P.Priyanka-2420030132</a:t>
            </a:r>
          </a:p>
        </p:txBody>
      </p:sp>
      <p:sp>
        <p:nvSpPr>
          <p:cNvPr id="8" name="Text Box 7"/>
          <p:cNvSpPr txBox="1"/>
          <p:nvPr/>
        </p:nvSpPr>
        <p:spPr>
          <a:xfrm>
            <a:off x="5270573" y="884645"/>
            <a:ext cx="1650851" cy="1020707"/>
          </a:xfrm>
          <a:prstGeom prst="rect">
            <a:avLst/>
          </a:prstGeom>
          <a:noFill/>
        </p:spPr>
        <p:txBody>
          <a:bodyPr wrap="square" rtlCol="0">
            <a:noAutofit/>
          </a:bodyPr>
          <a:lstStyle/>
          <a:p>
            <a:pPr algn="ctr"/>
            <a:r>
              <a:rPr lang="en-US" sz="2000" dirty="0"/>
              <a:t>Batch Number- 23</a:t>
            </a:r>
          </a:p>
          <a:p>
            <a:pPr algn="ctr"/>
            <a:r>
              <a:rPr lang="en-US" sz="2800" dirty="0"/>
              <a:t>Sec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3</a:t>
            </a:fld>
            <a:endParaRPr lang="en-IN"/>
          </a:p>
        </p:txBody>
      </p:sp>
      <p:sp>
        <p:nvSpPr>
          <p:cNvPr id="2" name="Text Box 1"/>
          <p:cNvSpPr txBox="1"/>
          <p:nvPr/>
        </p:nvSpPr>
        <p:spPr>
          <a:xfrm>
            <a:off x="933450" y="995045"/>
            <a:ext cx="9796145" cy="4616450"/>
          </a:xfrm>
          <a:prstGeom prst="rect">
            <a:avLst/>
          </a:prstGeom>
        </p:spPr>
        <p:txBody>
          <a:bodyPr>
            <a:noAutofit/>
          </a:bodyPr>
          <a:lstStyle/>
          <a:p>
            <a:pPr>
              <a:spcAft>
                <a:spcPct val="60000"/>
              </a:spcAft>
            </a:pPr>
            <a:r>
              <a:rPr sz="2300" b="1" dirty="0"/>
              <a:t>Problem Statement</a:t>
            </a:r>
            <a:endParaRPr lang="en-GB" sz="2300" b="1" dirty="0"/>
          </a:p>
          <a:p>
            <a:pPr>
              <a:spcAft>
                <a:spcPct val="60000"/>
              </a:spcAft>
            </a:pPr>
            <a:r>
              <a:rPr lang="en-GB" sz="2000" dirty="0"/>
              <a:t>Centralized file-sharing systems are prone to bottlenecks, single-point failures, and high resource usage. There is a need for a decentralized, efficient, and reliable file transfer mechanism that enables direct communication among peers.</a:t>
            </a:r>
          </a:p>
          <a:p>
            <a:r>
              <a:rPr lang="en-GB" sz="2400" b="1" dirty="0"/>
              <a:t>Objectives:</a:t>
            </a:r>
          </a:p>
          <a:p>
            <a:pPr>
              <a:buFont typeface="Arial" panose="020B0604020202020204" pitchFamily="34" charset="0"/>
              <a:buChar char="•"/>
            </a:pPr>
            <a:r>
              <a:rPr lang="en-GB" sz="2000" dirty="0"/>
              <a:t>To build a P2P file-sharing application using TCP/UDP socket programming.</a:t>
            </a:r>
          </a:p>
          <a:p>
            <a:pPr>
              <a:buFont typeface="Arial" panose="020B0604020202020204" pitchFamily="34" charset="0"/>
              <a:buChar char="•"/>
            </a:pPr>
            <a:r>
              <a:rPr lang="en-GB" sz="2000" dirty="0"/>
              <a:t>To implement multithreading for concurrent upload and download requests.</a:t>
            </a:r>
          </a:p>
          <a:p>
            <a:pPr>
              <a:buFont typeface="Arial" panose="020B0604020202020204" pitchFamily="34" charset="0"/>
              <a:buChar char="•"/>
            </a:pPr>
            <a:r>
              <a:rPr lang="en-GB" sz="2000" dirty="0"/>
              <a:t>To introduce file chunking for efficient large file transfer.</a:t>
            </a:r>
          </a:p>
          <a:p>
            <a:pPr>
              <a:buFont typeface="Arial" panose="020B0604020202020204" pitchFamily="34" charset="0"/>
              <a:buChar char="•"/>
            </a:pPr>
            <a:r>
              <a:rPr lang="en-GB" sz="2000" dirty="0"/>
              <a:t>To verify data integrity using checksum validation.</a:t>
            </a:r>
          </a:p>
          <a:p>
            <a:pPr>
              <a:buFont typeface="Arial" panose="020B0604020202020204" pitchFamily="34" charset="0"/>
              <a:buChar char="•"/>
            </a:pPr>
            <a:r>
              <a:rPr lang="en-GB" sz="2000" dirty="0"/>
              <a:t>To understand and demonstrate core OS concepts such as concurrency, synchronization, and process communication.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4</a:t>
            </a:fld>
            <a:endParaRPr lang="en-IN"/>
          </a:p>
        </p:txBody>
      </p:sp>
      <p:sp>
        <p:nvSpPr>
          <p:cNvPr id="2" name="Text Box 1"/>
          <p:cNvSpPr txBox="1"/>
          <p:nvPr/>
        </p:nvSpPr>
        <p:spPr>
          <a:xfrm>
            <a:off x="1675765" y="349625"/>
            <a:ext cx="9785985" cy="5423796"/>
          </a:xfrm>
          <a:prstGeom prst="rect">
            <a:avLst/>
          </a:prstGeom>
        </p:spPr>
        <p:txBody>
          <a:bodyPr>
            <a:noAutofit/>
          </a:bodyPr>
          <a:lstStyle/>
          <a:p>
            <a:pPr>
              <a:spcAft>
                <a:spcPct val="60000"/>
              </a:spcAft>
            </a:pPr>
            <a:r>
              <a:rPr sz="2300" b="1" dirty="0"/>
              <a:t>Our Solution – P2P Architecture</a:t>
            </a:r>
            <a:endParaRPr lang="en-GB" sz="2300" b="1" dirty="0"/>
          </a:p>
          <a:p>
            <a:pPr>
              <a:spcAft>
                <a:spcPct val="60000"/>
              </a:spcAft>
            </a:pPr>
            <a:r>
              <a:rPr lang="en-GB" sz="2000" dirty="0"/>
              <a:t>Traditional file sharing systems depend on a centralized server to store and distribute files.</a:t>
            </a:r>
            <a:br>
              <a:rPr lang="en-GB" sz="2000" dirty="0"/>
            </a:br>
            <a:r>
              <a:rPr lang="en-GB" sz="2000" dirty="0"/>
              <a:t>Our solution eliminates this dependency using a </a:t>
            </a:r>
            <a:r>
              <a:rPr lang="en-GB" sz="2000" b="1" dirty="0"/>
              <a:t>Peer-to-Peer (P2P) architecture</a:t>
            </a:r>
            <a:r>
              <a:rPr lang="en-GB" sz="2000" dirty="0"/>
              <a:t>, where every peer acts both as a </a:t>
            </a:r>
            <a:r>
              <a:rPr lang="en-GB" sz="2000" b="1" dirty="0"/>
              <a:t>client</a:t>
            </a:r>
            <a:r>
              <a:rPr lang="en-GB" sz="2000" dirty="0"/>
              <a:t> (requesting files) and as a </a:t>
            </a:r>
            <a:r>
              <a:rPr lang="en-GB" sz="2000" b="1" dirty="0"/>
              <a:t>server</a:t>
            </a:r>
            <a:r>
              <a:rPr lang="en-GB" sz="2000" dirty="0"/>
              <a:t> (providing files).</a:t>
            </a:r>
          </a:p>
          <a:p>
            <a:endParaRPr lang="en-GB" sz="2000" dirty="0"/>
          </a:p>
          <a:p>
            <a:r>
              <a:rPr lang="en-GB" sz="2000" b="1" dirty="0"/>
              <a:t>How it works:</a:t>
            </a:r>
          </a:p>
          <a:p>
            <a:pPr>
              <a:buFont typeface="Arial" panose="020B0604020202020204" pitchFamily="34" charset="0"/>
              <a:buChar char="•"/>
            </a:pPr>
            <a:r>
              <a:rPr lang="en-GB" sz="2000" dirty="0"/>
              <a:t>Each peer runs the same program and is connected through a network using TCP/UDP sockets.</a:t>
            </a:r>
          </a:p>
          <a:p>
            <a:pPr>
              <a:buFont typeface="Arial" panose="020B0604020202020204" pitchFamily="34" charset="0"/>
              <a:buChar char="•"/>
            </a:pPr>
            <a:r>
              <a:rPr lang="en-GB" sz="2000" dirty="0"/>
              <a:t>When a peer wants a file, it directly requests it from another peer’s IP and port.</a:t>
            </a:r>
          </a:p>
          <a:p>
            <a:pPr>
              <a:buFont typeface="Arial" panose="020B0604020202020204" pitchFamily="34" charset="0"/>
              <a:buChar char="•"/>
            </a:pPr>
            <a:r>
              <a:rPr lang="en-GB" sz="2000" dirty="0"/>
              <a:t>The file is transferred in chunks, ensuring faster and more reliable sharing.</a:t>
            </a:r>
          </a:p>
          <a:p>
            <a:pPr>
              <a:buFont typeface="Arial" panose="020B0604020202020204" pitchFamily="34" charset="0"/>
              <a:buChar char="•"/>
            </a:pPr>
            <a:r>
              <a:rPr lang="en-GB" sz="2000" dirty="0"/>
              <a:t>A checksum is computed to verify file integrity after transfer.</a:t>
            </a:r>
          </a:p>
          <a:p>
            <a:pPr>
              <a:buFont typeface="Arial" panose="020B0604020202020204" pitchFamily="34" charset="0"/>
              <a:buChar char="•"/>
            </a:pPr>
            <a:endParaRPr lang="en-GB" sz="2000" dirty="0"/>
          </a:p>
          <a:p>
            <a:r>
              <a:rPr lang="en-GB" sz="2000" b="1" dirty="0"/>
              <a:t>Advantages of this approach:</a:t>
            </a:r>
            <a:endParaRPr lang="en-GB" sz="2000" dirty="0"/>
          </a:p>
          <a:p>
            <a:pPr>
              <a:buFont typeface="Arial" panose="020B0604020202020204" pitchFamily="34" charset="0"/>
              <a:buChar char="•"/>
            </a:pPr>
            <a:r>
              <a:rPr lang="en-GB" sz="2000" dirty="0"/>
              <a:t>No central dependency → no single point of failure</a:t>
            </a:r>
          </a:p>
          <a:p>
            <a:pPr>
              <a:buFont typeface="Arial" panose="020B0604020202020204" pitchFamily="34" charset="0"/>
              <a:buChar char="•"/>
            </a:pPr>
            <a:r>
              <a:rPr lang="en-GB" sz="2000" dirty="0"/>
              <a:t>Scalability → more peers means more sharing capacity</a:t>
            </a:r>
          </a:p>
          <a:p>
            <a:pPr>
              <a:buFont typeface="Arial" panose="020B0604020202020204" pitchFamily="34" charset="0"/>
              <a:buChar char="•"/>
            </a:pPr>
            <a:r>
              <a:rPr lang="en-GB" sz="2000" dirty="0"/>
              <a:t>Efficient bandwidth usage</a:t>
            </a:r>
          </a:p>
          <a:p>
            <a:pPr>
              <a:buFont typeface="Arial" panose="020B0604020202020204" pitchFamily="34" charset="0"/>
              <a:buChar char="•"/>
            </a:pPr>
            <a:r>
              <a:rPr lang="en-GB" sz="2000" dirty="0"/>
              <a:t>Demonstrates decentralized communication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5</a:t>
            </a:fld>
            <a:endParaRPr lang="en-IN"/>
          </a:p>
        </p:txBody>
      </p:sp>
      <p:sp>
        <p:nvSpPr>
          <p:cNvPr id="2" name="Text Box 1"/>
          <p:cNvSpPr txBox="1"/>
          <p:nvPr/>
        </p:nvSpPr>
        <p:spPr>
          <a:xfrm>
            <a:off x="1443617" y="324673"/>
            <a:ext cx="9467850" cy="4779645"/>
          </a:xfrm>
          <a:prstGeom prst="rect">
            <a:avLst/>
          </a:prstGeom>
        </p:spPr>
        <p:txBody>
          <a:bodyPr>
            <a:noAutofit/>
          </a:bodyPr>
          <a:lstStyle/>
          <a:p>
            <a:pPr>
              <a:spcAft>
                <a:spcPct val="60000"/>
              </a:spcAft>
            </a:pPr>
            <a:r>
              <a:rPr sz="2300" b="1" dirty="0"/>
              <a:t>Technical Deep Dive – The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Peer Initialization:</a:t>
            </a:r>
            <a:b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Each peer starts by opening a TCP socket and begins listening on a 	specific port </a:t>
            </a:r>
            <a:r>
              <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(e.g., 5000).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Connection Setup:</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When a user wants to download a file, they enter the IP and port of another peer.</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The requesting peer sends a </a:t>
            </a:r>
            <a:r>
              <a:rPr kumimoji="0" lang="en-US" altLang="en-US" b="1" i="0" u="none" strike="noStrike" cap="none" normalizeH="0" baseline="0" dirty="0">
                <a:ln>
                  <a:noFill/>
                </a:ln>
                <a:solidFill>
                  <a:schemeClr val="tx1"/>
                </a:solidFill>
                <a:effectLst/>
                <a:latin typeface="Arial" panose="020B0604020202020204" pitchFamily="34" charset="0"/>
              </a:rPr>
              <a:t>“GET filename”</a:t>
            </a:r>
            <a:r>
              <a:rPr kumimoji="0" lang="en-US" altLang="en-US" b="0" i="0" u="none" strike="noStrike" cap="none" normalizeH="0" baseline="0" dirty="0">
                <a:ln>
                  <a:noFill/>
                </a:ln>
                <a:solidFill>
                  <a:schemeClr val="tx1"/>
                </a:solidFill>
                <a:effectLst/>
                <a:latin typeface="Arial" panose="020B0604020202020204" pitchFamily="34" charset="0"/>
              </a:rPr>
              <a:t> message.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File Chunking and Transfer: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The sender splits the requested file into smaller chunks (e.g., 1 MB each).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Each chunk is read and sent over the socket sequentially.</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The receiver writes these chunks into a new 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Checksum Validation: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Sender calculates an </a:t>
            </a:r>
            <a:r>
              <a:rPr kumimoji="0" lang="en-US" altLang="en-US" b="1" i="0" u="none" strike="noStrike" cap="none" normalizeH="0" baseline="0" dirty="0">
                <a:ln>
                  <a:noFill/>
                </a:ln>
                <a:solidFill>
                  <a:schemeClr val="tx1"/>
                </a:solidFill>
                <a:effectLst/>
                <a:latin typeface="Arial" panose="020B0604020202020204" pitchFamily="34" charset="0"/>
              </a:rPr>
              <a:t>MD5/SHA-256 checksum</a:t>
            </a:r>
            <a:r>
              <a:rPr kumimoji="0" lang="en-US" altLang="en-US" b="0" i="0" u="none" strike="noStrike" cap="none" normalizeH="0" baseline="0" dirty="0">
                <a:ln>
                  <a:noFill/>
                </a:ln>
                <a:solidFill>
                  <a:schemeClr val="tx1"/>
                </a:solidFill>
                <a:effectLst/>
                <a:latin typeface="Arial" panose="020B0604020202020204" pitchFamily="34" charset="0"/>
              </a:rPr>
              <a:t> for the original file.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Receiver recomputes the checksum for the received file and compares both.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If mismatch → corrupted chunks can be re-requested.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Concurrency Handling:</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Multithreading is used so a peer can handle multiple file requests at once.</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One thread may upload a file while another downloads from a different peer.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8225" y="602615"/>
            <a:ext cx="10925175" cy="5054600"/>
          </a:xfrm>
          <a:prstGeom prst="rect">
            <a:avLst/>
          </a:prstGeom>
        </p:spPr>
        <p:txBody>
          <a:bodyPr>
            <a:noAutofit/>
          </a:bodyPr>
          <a:lstStyle/>
          <a:p>
            <a:pPr algn="just">
              <a:spcAft>
                <a:spcPct val="60000"/>
              </a:spcAft>
            </a:pPr>
            <a:r>
              <a:rPr sz="2300" b="1" dirty="0"/>
              <a:t>Implementation &amp; Tech Stack</a:t>
            </a:r>
          </a:p>
          <a:p>
            <a:pPr algn="just">
              <a:spcAft>
                <a:spcPct val="60000"/>
              </a:spcAft>
              <a:buFont typeface="Arial" panose="020B0604020202020204"/>
              <a:buChar char="•"/>
            </a:pPr>
            <a:r>
              <a:rPr sz="2200" b="1" dirty="0"/>
              <a:t>Core Technologies</a:t>
            </a:r>
            <a:endParaRPr lang="en-GB" sz="2200" b="1" dirty="0"/>
          </a:p>
          <a:p>
            <a:pPr algn="just">
              <a:spcAft>
                <a:spcPct val="60000"/>
              </a:spcAft>
            </a:pPr>
            <a:r>
              <a:rPr lang="en-IN" sz="2000" b="1" dirty="0"/>
              <a:t>Software Requirements:</a:t>
            </a:r>
            <a:endParaRPr lang="en-GB" sz="2000" b="1" dirty="0"/>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Operating System: Windows / Linux / macOS</a:t>
            </a: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Programming Language: Python / Java (with socket and threading support)</a:t>
            </a:r>
          </a:p>
          <a:p>
            <a:pPr lvl="1"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IDE: VS Code / IntelliJ IDEA / PyCharm</a:t>
            </a:r>
          </a:p>
          <a:p>
            <a:pPr lvl="1" defTabSz="914400" eaLnBrk="0" fontAlgn="base" hangingPunct="0">
              <a:spcBef>
                <a:spcPct val="0"/>
              </a:spcBef>
              <a:spcAft>
                <a:spcPct val="0"/>
              </a:spcAft>
            </a:pPr>
            <a:endParaRPr lang="en-US" altLang="en-US" dirty="0">
              <a:latin typeface="Arial" panose="020B0604020202020204" pitchFamily="34" charset="0"/>
            </a:endParaRPr>
          </a:p>
          <a:p>
            <a:r>
              <a:rPr lang="en-GB" sz="2000" b="1" dirty="0"/>
              <a:t>Hardware Requirements:</a:t>
            </a:r>
          </a:p>
          <a:p>
            <a:pPr lvl="1">
              <a:buFont typeface="Arial" panose="020B0604020202020204" pitchFamily="34" charset="0"/>
              <a:buChar char="•"/>
            </a:pPr>
            <a:r>
              <a:rPr lang="en-GB" dirty="0"/>
              <a:t>Processor: Intel i3 or higher</a:t>
            </a:r>
          </a:p>
          <a:p>
            <a:pPr lvl="1">
              <a:buFont typeface="Arial" panose="020B0604020202020204" pitchFamily="34" charset="0"/>
              <a:buChar char="•"/>
            </a:pPr>
            <a:r>
              <a:rPr lang="en-GB" dirty="0"/>
              <a:t>RAM: Minimum 4 GB</a:t>
            </a:r>
          </a:p>
          <a:p>
            <a:pPr lvl="1">
              <a:buFont typeface="Arial" panose="020B0604020202020204" pitchFamily="34" charset="0"/>
              <a:buChar char="•"/>
            </a:pPr>
            <a:r>
              <a:rPr lang="en-GB" dirty="0"/>
              <a:t>Storage: Minimum 500 MB free space</a:t>
            </a:r>
          </a:p>
          <a:p>
            <a:pPr lvl="1">
              <a:buFont typeface="Arial" panose="020B0604020202020204" pitchFamily="34" charset="0"/>
              <a:buChar char="•"/>
            </a:pPr>
            <a:r>
              <a:rPr lang="en-GB" dirty="0"/>
              <a:t>Network: Local area connection or Wi-Fi</a:t>
            </a:r>
          </a:p>
          <a:p>
            <a:pPr lvl="1"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algn="just">
              <a:spcAft>
                <a:spcPct val="60000"/>
              </a:spcAft>
            </a:pPr>
            <a:endParaRPr lang="en-GB" sz="22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38225" y="602615"/>
            <a:ext cx="10925175" cy="5054600"/>
          </a:xfrm>
          <a:prstGeom prst="rect">
            <a:avLst/>
          </a:prstGeom>
        </p:spPr>
        <p:txBody>
          <a:bodyPr>
            <a:noAutofit/>
          </a:bodyPr>
          <a:lstStyle/>
          <a:p>
            <a:pPr marL="342900" indent="-342900" algn="just">
              <a:spcAft>
                <a:spcPct val="60000"/>
              </a:spcAft>
              <a:buFont typeface="Arial" panose="020B0604020202020204" pitchFamily="34" charset="0"/>
              <a:buChar char="•"/>
            </a:pPr>
            <a:r>
              <a:rPr sz="2200" b="1" dirty="0"/>
              <a:t>Key Components Built</a:t>
            </a:r>
            <a:endParaRPr lang="en-GB" sz="2200" b="1" dirty="0"/>
          </a:p>
          <a:p>
            <a:pPr algn="just">
              <a:spcAft>
                <a:spcPct val="60000"/>
              </a:spcAft>
            </a:pPr>
            <a:endParaRPr sz="2200" b="1" dirty="0"/>
          </a:p>
        </p:txBody>
      </p:sp>
      <p:graphicFrame>
        <p:nvGraphicFramePr>
          <p:cNvPr id="2" name="Table 1">
            <a:extLst>
              <a:ext uri="{FF2B5EF4-FFF2-40B4-BE49-F238E27FC236}">
                <a16:creationId xmlns:a16="http://schemas.microsoft.com/office/drawing/2014/main" id="{A3AC97DC-3D64-44DF-8726-FDF9CD649C07}"/>
              </a:ext>
            </a:extLst>
          </p:cNvPr>
          <p:cNvGraphicFramePr>
            <a:graphicFrameLocks noGrp="1"/>
          </p:cNvGraphicFramePr>
          <p:nvPr>
            <p:extLst>
              <p:ext uri="{D42A27DB-BD31-4B8C-83A1-F6EECF244321}">
                <p14:modId xmlns:p14="http://schemas.microsoft.com/office/powerpoint/2010/main" val="2714885701"/>
              </p:ext>
            </p:extLst>
          </p:nvPr>
        </p:nvGraphicFramePr>
        <p:xfrm>
          <a:off x="2834936" y="1568824"/>
          <a:ext cx="7196570" cy="3918370"/>
        </p:xfrm>
        <a:graphic>
          <a:graphicData uri="http://schemas.openxmlformats.org/drawingml/2006/table">
            <a:tbl>
              <a:tblPr/>
              <a:tblGrid>
                <a:gridCol w="3598285">
                  <a:extLst>
                    <a:ext uri="{9D8B030D-6E8A-4147-A177-3AD203B41FA5}">
                      <a16:colId xmlns:a16="http://schemas.microsoft.com/office/drawing/2014/main" val="1154871001"/>
                    </a:ext>
                  </a:extLst>
                </a:gridCol>
                <a:gridCol w="3598285">
                  <a:extLst>
                    <a:ext uri="{9D8B030D-6E8A-4147-A177-3AD203B41FA5}">
                      <a16:colId xmlns:a16="http://schemas.microsoft.com/office/drawing/2014/main" val="2814135861"/>
                    </a:ext>
                  </a:extLst>
                </a:gridCol>
              </a:tblGrid>
              <a:tr h="295303">
                <a:tc>
                  <a:txBody>
                    <a:bodyPr/>
                    <a:lstStyle/>
                    <a:p>
                      <a:r>
                        <a:rPr lang="en-IN" sz="1400" dirty="0"/>
                        <a:t>Component</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Description</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1642589"/>
                  </a:ext>
                </a:extLst>
              </a:tr>
              <a:tr h="517581">
                <a:tc>
                  <a:txBody>
                    <a:bodyPr/>
                    <a:lstStyle/>
                    <a:p>
                      <a:r>
                        <a:rPr lang="en-IN" sz="1400" b="1"/>
                        <a:t>Peer Node</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Core module that allows the program to act as both server and client simultaneously.</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2649594"/>
                  </a:ext>
                </a:extLst>
              </a:tr>
              <a:tr h="517581">
                <a:tc>
                  <a:txBody>
                    <a:bodyPr/>
                    <a:lstStyle/>
                    <a:p>
                      <a:r>
                        <a:rPr lang="en-IN" sz="1400" b="1"/>
                        <a:t>Server Handler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Listens for incoming requests from other peers and serves files in chunks.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86349361"/>
                  </a:ext>
                </a:extLst>
              </a:tr>
              <a:tr h="517581">
                <a:tc>
                  <a:txBody>
                    <a:bodyPr/>
                    <a:lstStyle/>
                    <a:p>
                      <a:r>
                        <a:rPr lang="en-IN" sz="1400" b="1"/>
                        <a:t>Client Handler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Connects to another peer to request a specific file.</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76157386"/>
                  </a:ext>
                </a:extLst>
              </a:tr>
              <a:tr h="517581">
                <a:tc>
                  <a:txBody>
                    <a:bodyPr/>
                    <a:lstStyle/>
                    <a:p>
                      <a:r>
                        <a:rPr lang="en-IN" sz="1400" b="1"/>
                        <a:t>Thread Manager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Manages multiple threads for concurrent uploads/downloads.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683538937"/>
                  </a:ext>
                </a:extLst>
              </a:tr>
              <a:tr h="517581">
                <a:tc>
                  <a:txBody>
                    <a:bodyPr/>
                    <a:lstStyle/>
                    <a:p>
                      <a:r>
                        <a:rPr lang="en-IN" sz="1400" b="1"/>
                        <a:t>Checksum Module</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Handles file integrity verification using hashing algorithms.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0729243"/>
                  </a:ext>
                </a:extLst>
              </a:tr>
              <a:tr h="517581">
                <a:tc>
                  <a:txBody>
                    <a:bodyPr/>
                    <a:lstStyle/>
                    <a:p>
                      <a:r>
                        <a:rPr lang="en-IN" sz="1400" b="1"/>
                        <a:t>Chunk Manager</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400"/>
                        <a:t>Divides and reconstructs files efficiently during transfer.</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13461565"/>
                  </a:ext>
                </a:extLst>
              </a:tr>
              <a:tr h="517581">
                <a:tc>
                  <a:txBody>
                    <a:bodyPr/>
                    <a:lstStyle/>
                    <a:p>
                      <a:r>
                        <a:rPr lang="en-IN" sz="1400" b="1"/>
                        <a:t>Logger/Console UI</a:t>
                      </a:r>
                      <a:endParaRPr lang="en-IN" sz="1400"/>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Displays file transfer progress, connected peers, and status messages.</a:t>
                      </a:r>
                    </a:p>
                  </a:txBody>
                  <a:tcPr marL="65088" marR="65088" marT="32544" marB="325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4974490"/>
                  </a:ext>
                </a:extLst>
              </a:tr>
            </a:tbl>
          </a:graphicData>
        </a:graphic>
      </p:graphicFrame>
    </p:spTree>
    <p:extLst>
      <p:ext uri="{BB962C8B-B14F-4D97-AF65-F5344CB8AC3E}">
        <p14:creationId xmlns:p14="http://schemas.microsoft.com/office/powerpoint/2010/main" val="3313599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93676" y="1358265"/>
            <a:ext cx="8204648" cy="4141470"/>
          </a:xfrm>
          <a:prstGeom prst="rect">
            <a:avLst/>
          </a:prstGeom>
        </p:spPr>
        <p:txBody>
          <a:bodyPr>
            <a:noAutofit/>
          </a:bodyPr>
          <a:lstStyle/>
          <a:p>
            <a:pPr>
              <a:spcAft>
                <a:spcPct val="60000"/>
              </a:spcAft>
            </a:pPr>
            <a:r>
              <a:rPr sz="2300" b="1" dirty="0"/>
              <a:t>Features Implemented</a:t>
            </a:r>
          </a:p>
          <a:p>
            <a:pPr marL="285750" indent="-285750">
              <a:buFont typeface="Arial" panose="020B0604020202020204" pitchFamily="34" charset="0"/>
              <a:buChar char="•"/>
            </a:pPr>
            <a:r>
              <a:rPr lang="en-IN" sz="1600" b="1" dirty="0"/>
              <a:t>Direct Peer-to-Peer File Transfer</a:t>
            </a:r>
            <a:r>
              <a:rPr lang="en-IN" sz="1600" dirty="0"/>
              <a:t> – No central server; all peers communicate directly.</a:t>
            </a:r>
          </a:p>
          <a:p>
            <a:pPr marL="285750" indent="-285750">
              <a:buFont typeface="Arial" panose="020B0604020202020204" pitchFamily="34" charset="0"/>
              <a:buChar char="•"/>
            </a:pPr>
            <a:r>
              <a:rPr lang="en-IN" sz="1600" b="1" dirty="0"/>
              <a:t>Multithreading Support</a:t>
            </a:r>
            <a:r>
              <a:rPr lang="en-IN" sz="1600" dirty="0"/>
              <a:t> – Upload and download multiple files at once.</a:t>
            </a:r>
          </a:p>
          <a:p>
            <a:pPr marL="285750" indent="-285750">
              <a:buFont typeface="Arial" panose="020B0604020202020204" pitchFamily="34" charset="0"/>
              <a:buChar char="•"/>
            </a:pPr>
            <a:r>
              <a:rPr lang="en-IN" sz="1600" b="1" dirty="0"/>
              <a:t>File Chunking</a:t>
            </a:r>
            <a:r>
              <a:rPr lang="en-IN" sz="1600" dirty="0"/>
              <a:t> – Splits large files into smaller parts for smoother transmission.</a:t>
            </a:r>
          </a:p>
          <a:p>
            <a:pPr marL="285750" indent="-285750">
              <a:buFont typeface="Arial" panose="020B0604020202020204" pitchFamily="34" charset="0"/>
              <a:buChar char="•"/>
            </a:pPr>
            <a:r>
              <a:rPr lang="en-IN" sz="1600" b="1" dirty="0"/>
              <a:t>Checksum Validation</a:t>
            </a:r>
            <a:r>
              <a:rPr lang="en-IN" sz="1600" dirty="0"/>
              <a:t> – Ensures data integrity and prevents corruption.</a:t>
            </a:r>
          </a:p>
          <a:p>
            <a:pPr marL="285750" indent="-285750">
              <a:buFont typeface="Arial" panose="020B0604020202020204" pitchFamily="34" charset="0"/>
              <a:buChar char="•"/>
            </a:pPr>
            <a:r>
              <a:rPr lang="en-IN" sz="1600" b="1" dirty="0"/>
              <a:t>Cross-Platform Compatibility</a:t>
            </a:r>
            <a:r>
              <a:rPr lang="en-IN" sz="1600" dirty="0"/>
              <a:t> – Works on any OS that supports TCP/UDP sockets.</a:t>
            </a:r>
          </a:p>
          <a:p>
            <a:pPr marL="285750" indent="-285750">
              <a:buFont typeface="Arial" panose="020B0604020202020204" pitchFamily="34" charset="0"/>
              <a:buChar char="•"/>
            </a:pPr>
            <a:r>
              <a:rPr lang="en-IN" sz="1600" b="1" dirty="0"/>
              <a:t>Simple Command-Line Interface (CLI)</a:t>
            </a:r>
            <a:r>
              <a:rPr lang="en-IN" sz="1600" dirty="0"/>
              <a:t> – Allows users to send and receive files easily.</a:t>
            </a: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0255FE7-B3ED-8751-6AFC-B3956E97C93B}"/>
              </a:ext>
            </a:extLst>
          </p:cNvPr>
          <p:cNvPicPr>
            <a:picLocks noGrp="1" noChangeAspect="1"/>
          </p:cNvPicPr>
          <p:nvPr>
            <p:ph idx="1"/>
          </p:nvPr>
        </p:nvPicPr>
        <p:blipFill>
          <a:blip r:embed="rId2"/>
          <a:stretch>
            <a:fillRect/>
          </a:stretch>
        </p:blipFill>
        <p:spPr>
          <a:xfrm>
            <a:off x="879894" y="563288"/>
            <a:ext cx="10144664" cy="5432072"/>
          </a:xfrm>
          <a:prstGeom prst="rect">
            <a:avLst/>
          </a:prstGeom>
        </p:spPr>
      </p:pic>
      <p:sp>
        <p:nvSpPr>
          <p:cNvPr id="4" name="Slide Number Placeholder 3">
            <a:extLst>
              <a:ext uri="{FF2B5EF4-FFF2-40B4-BE49-F238E27FC236}">
                <a16:creationId xmlns:a16="http://schemas.microsoft.com/office/drawing/2014/main" id="{D9FD5D02-AA9C-FAB6-4FB8-274AB3C8AFCC}"/>
              </a:ext>
            </a:extLst>
          </p:cNvPr>
          <p:cNvSpPr>
            <a:spLocks noGrp="1"/>
          </p:cNvSpPr>
          <p:nvPr>
            <p:ph type="sldNum" sz="quarter" idx="12"/>
          </p:nvPr>
        </p:nvSpPr>
        <p:spPr/>
        <p:txBody>
          <a:bodyPr/>
          <a:lstStyle/>
          <a:p>
            <a:fld id="{CBABCCC1-BF11-4F37-963E-1BCD5B23FD72}" type="slidenum">
              <a:rPr lang="en-IN" smtClean="0"/>
              <a:t>9</a:t>
            </a:fld>
            <a:endParaRPr lang="en-IN"/>
          </a:p>
        </p:txBody>
      </p:sp>
    </p:spTree>
    <p:extLst>
      <p:ext uri="{BB962C8B-B14F-4D97-AF65-F5344CB8AC3E}">
        <p14:creationId xmlns:p14="http://schemas.microsoft.com/office/powerpoint/2010/main" val="185244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F27876B-5B85-1F17-EC2B-92BF4DDD1325}"/>
              </a:ext>
            </a:extLst>
          </p:cNvPr>
          <p:cNvPicPr>
            <a:picLocks noGrp="1" noChangeAspect="1"/>
          </p:cNvPicPr>
          <p:nvPr>
            <p:ph idx="1"/>
          </p:nvPr>
        </p:nvPicPr>
        <p:blipFill>
          <a:blip r:embed="rId2"/>
          <a:stretch>
            <a:fillRect/>
          </a:stretch>
        </p:blipFill>
        <p:spPr>
          <a:xfrm>
            <a:off x="997788" y="577970"/>
            <a:ext cx="10196423" cy="5331125"/>
          </a:xfrm>
          <a:prstGeom prst="rect">
            <a:avLst/>
          </a:prstGeom>
        </p:spPr>
      </p:pic>
      <p:sp>
        <p:nvSpPr>
          <p:cNvPr id="4" name="Slide Number Placeholder 3">
            <a:extLst>
              <a:ext uri="{FF2B5EF4-FFF2-40B4-BE49-F238E27FC236}">
                <a16:creationId xmlns:a16="http://schemas.microsoft.com/office/drawing/2014/main" id="{AE8C0CAA-8737-0F79-91A9-3C76428DB830}"/>
              </a:ext>
            </a:extLst>
          </p:cNvPr>
          <p:cNvSpPr>
            <a:spLocks noGrp="1"/>
          </p:cNvSpPr>
          <p:nvPr>
            <p:ph type="sldNum" sz="quarter" idx="12"/>
          </p:nvPr>
        </p:nvSpPr>
        <p:spPr/>
        <p:txBody>
          <a:bodyPr/>
          <a:lstStyle/>
          <a:p>
            <a:fld id="{CBABCCC1-BF11-4F37-963E-1BCD5B23FD72}" type="slidenum">
              <a:rPr lang="en-IN" smtClean="0"/>
              <a:t>10</a:t>
            </a:fld>
            <a:endParaRPr lang="en-IN"/>
          </a:p>
        </p:txBody>
      </p:sp>
    </p:spTree>
    <p:extLst>
      <p:ext uri="{BB962C8B-B14F-4D97-AF65-F5344CB8AC3E}">
        <p14:creationId xmlns:p14="http://schemas.microsoft.com/office/powerpoint/2010/main" val="435605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93165" y="1046480"/>
            <a:ext cx="10220325" cy="4764405"/>
          </a:xfrm>
          <a:prstGeom prst="rect">
            <a:avLst/>
          </a:prstGeom>
        </p:spPr>
        <p:txBody>
          <a:bodyPr>
            <a:noAutofit/>
          </a:bodyPr>
          <a:lstStyle/>
          <a:p>
            <a:pPr algn="just">
              <a:spcAft>
                <a:spcPct val="60000"/>
              </a:spcAft>
            </a:pPr>
            <a:r>
              <a:rPr sz="2300" b="1" dirty="0"/>
              <a:t> Challenges Overcome</a:t>
            </a:r>
            <a:endParaRPr lang="en-GB" sz="2300" b="1" dirty="0"/>
          </a:p>
          <a:p>
            <a:pPr algn="just">
              <a:spcAft>
                <a:spcPct val="60000"/>
              </a:spcAft>
            </a:pPr>
            <a:endParaRPr sz="2300" b="1" dirty="0"/>
          </a:p>
        </p:txBody>
      </p:sp>
      <p:graphicFrame>
        <p:nvGraphicFramePr>
          <p:cNvPr id="4" name="Table 3">
            <a:extLst>
              <a:ext uri="{FF2B5EF4-FFF2-40B4-BE49-F238E27FC236}">
                <a16:creationId xmlns:a16="http://schemas.microsoft.com/office/drawing/2014/main" id="{6C92BF29-E076-48CD-9E71-E97B9B70CA0A}"/>
              </a:ext>
            </a:extLst>
          </p:cNvPr>
          <p:cNvGraphicFramePr>
            <a:graphicFrameLocks noGrp="1"/>
          </p:cNvGraphicFramePr>
          <p:nvPr>
            <p:extLst>
              <p:ext uri="{D42A27DB-BD31-4B8C-83A1-F6EECF244321}">
                <p14:modId xmlns:p14="http://schemas.microsoft.com/office/powerpoint/2010/main" val="2221995273"/>
              </p:ext>
            </p:extLst>
          </p:nvPr>
        </p:nvGraphicFramePr>
        <p:xfrm>
          <a:off x="2314773" y="1992572"/>
          <a:ext cx="7876778" cy="3496744"/>
        </p:xfrm>
        <a:graphic>
          <a:graphicData uri="http://schemas.openxmlformats.org/drawingml/2006/table">
            <a:tbl>
              <a:tblPr/>
              <a:tblGrid>
                <a:gridCol w="3938389">
                  <a:extLst>
                    <a:ext uri="{9D8B030D-6E8A-4147-A177-3AD203B41FA5}">
                      <a16:colId xmlns:a16="http://schemas.microsoft.com/office/drawing/2014/main" val="1776541305"/>
                    </a:ext>
                  </a:extLst>
                </a:gridCol>
                <a:gridCol w="3938389">
                  <a:extLst>
                    <a:ext uri="{9D8B030D-6E8A-4147-A177-3AD203B41FA5}">
                      <a16:colId xmlns:a16="http://schemas.microsoft.com/office/drawing/2014/main" val="3751694194"/>
                    </a:ext>
                  </a:extLst>
                </a:gridCol>
              </a:tblGrid>
              <a:tr h="299969">
                <a:tc>
                  <a:txBody>
                    <a:bodyPr/>
                    <a:lstStyle/>
                    <a:p>
                      <a:r>
                        <a:rPr lang="en-IN" sz="1500" dirty="0"/>
                        <a:t>Challenge</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dirty="0"/>
                        <a:t>How It Was Solved</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2123870"/>
                  </a:ext>
                </a:extLst>
              </a:tr>
              <a:tr h="524945">
                <a:tc>
                  <a:txBody>
                    <a:bodyPr/>
                    <a:lstStyle/>
                    <a:p>
                      <a:r>
                        <a:rPr lang="en-IN" sz="1500" b="1" dirty="0"/>
                        <a:t>Concurrent Transfers</a:t>
                      </a:r>
                      <a:endParaRPr lang="en-IN" sz="1500" dirty="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GB" sz="1500" dirty="0"/>
                        <a:t>Used multithreading to manage simultaneous file uploads and downloads without blocking.</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1467239555"/>
                  </a:ext>
                </a:extLst>
              </a:tr>
              <a:tr h="524945">
                <a:tc>
                  <a:txBody>
                    <a:bodyPr/>
                    <a:lstStyle/>
                    <a:p>
                      <a:r>
                        <a:rPr lang="en-IN" sz="1500" b="1"/>
                        <a:t>Data Corruption During Transfer</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dirty="0"/>
                        <a:t>Implemented checksum validation to ensure accurate reconstruction of files.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910814886"/>
                  </a:ext>
                </a:extLst>
              </a:tr>
              <a:tr h="524945">
                <a:tc>
                  <a:txBody>
                    <a:bodyPr/>
                    <a:lstStyle/>
                    <a:p>
                      <a:r>
                        <a:rPr lang="en-IN" sz="1500" b="1"/>
                        <a:t>Large File Handling</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Added file chunking mechanism for memory-efficient transmission.</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2665412372"/>
                  </a:ext>
                </a:extLst>
              </a:tr>
              <a:tr h="524945">
                <a:tc>
                  <a:txBody>
                    <a:bodyPr/>
                    <a:lstStyle/>
                    <a:p>
                      <a:r>
                        <a:rPr lang="en-IN" sz="1500" b="1"/>
                        <a:t>Peer Synchronization</a:t>
                      </a:r>
                      <a:endParaRPr lang="en-IN"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Carefully synchronized threads and socket streams to prevent data mix-ups.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663224754"/>
                  </a:ext>
                </a:extLst>
              </a:tr>
              <a:tr h="524945">
                <a:tc>
                  <a:txBody>
                    <a:bodyPr/>
                    <a:lstStyle/>
                    <a:p>
                      <a:r>
                        <a:rPr lang="en-GB" sz="1500" b="1"/>
                        <a:t>Dynamic Peer Discovery</a:t>
                      </a:r>
                      <a:r>
                        <a:rPr lang="en-GB" sz="1500"/>
                        <a:t> </a:t>
                      </a:r>
                      <a:r>
                        <a:rPr lang="en-GB" sz="1500" i="1"/>
                        <a:t>(optional challenge)</a:t>
                      </a:r>
                      <a:endParaRPr lang="en-GB" sz="150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GB" sz="1500"/>
                        <a:t>Initially handled manually, later enhanced with a simple peer list file or tracker concept.</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3772155469"/>
                  </a:ext>
                </a:extLst>
              </a:tr>
              <a:tr h="524945">
                <a:tc>
                  <a:txBody>
                    <a:bodyPr/>
                    <a:lstStyle/>
                    <a:p>
                      <a:r>
                        <a:rPr lang="en-IN" sz="1500" b="1" dirty="0"/>
                        <a:t>Error Handling &amp; Robustness</a:t>
                      </a:r>
                      <a:endParaRPr lang="en-IN" sz="1500" dirty="0"/>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GB" sz="1500" dirty="0"/>
                        <a:t>Added try-catch blocks and proper socket closing to prevent crashes.</a:t>
                      </a:r>
                    </a:p>
                  </a:txBody>
                  <a:tcPr marL="74992" marR="74992" marT="37496" marB="374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40419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40572" y="759609"/>
            <a:ext cx="8111639" cy="5181600"/>
          </a:xfrm>
          <a:prstGeom prst="rect">
            <a:avLst/>
          </a:prstGeom>
        </p:spPr>
        <p:txBody>
          <a:bodyPr>
            <a:noAutofit/>
          </a:bodyPr>
          <a:lstStyle/>
          <a:p>
            <a:r>
              <a:rPr lang="en-IN" sz="2400" b="1" dirty="0"/>
              <a:t>Future Scope</a:t>
            </a:r>
          </a:p>
          <a:p>
            <a:endParaRPr lang="en-IN" sz="2400" b="1" dirty="0"/>
          </a:p>
          <a:p>
            <a:pPr algn="just">
              <a:buFont typeface="Arial" panose="020B0604020202020204" pitchFamily="34" charset="0"/>
              <a:buChar char="•"/>
            </a:pPr>
            <a:r>
              <a:rPr lang="en-IN" sz="2400" dirty="0"/>
              <a:t>Implement peer discovery and indexing using a tracker server.</a:t>
            </a:r>
          </a:p>
          <a:p>
            <a:pPr algn="just">
              <a:buFont typeface="Arial" panose="020B0604020202020204" pitchFamily="34" charset="0"/>
              <a:buChar char="•"/>
            </a:pPr>
            <a:r>
              <a:rPr lang="en-IN" sz="2400" dirty="0"/>
              <a:t>Add encryption for secure data transmission.</a:t>
            </a:r>
          </a:p>
          <a:p>
            <a:pPr algn="just">
              <a:buFont typeface="Arial" panose="020B0604020202020204" pitchFamily="34" charset="0"/>
              <a:buChar char="•"/>
            </a:pPr>
            <a:r>
              <a:rPr lang="en-IN" sz="2400" dirty="0"/>
              <a:t>Integrate a graphical user interface (GUI) for improved usability and added </a:t>
            </a:r>
            <a:r>
              <a:rPr lang="en-IN" sz="2400" dirty="0" err="1"/>
              <a:t>MultiThreading</a:t>
            </a:r>
            <a:r>
              <a:rPr lang="en-IN" sz="2400"/>
              <a:t>.</a:t>
            </a:r>
            <a:endParaRPr lang="en-IN" sz="2400" dirty="0"/>
          </a:p>
          <a:p>
            <a:pPr algn="just">
              <a:buFont typeface="Arial" panose="020B0604020202020204" pitchFamily="34" charset="0"/>
              <a:buChar char="•"/>
            </a:pPr>
            <a:r>
              <a:rPr lang="en-IN" sz="2400" dirty="0"/>
              <a:t>Support parallel downloading of file chunks from multiple peers for higher transfer speed.</a:t>
            </a:r>
          </a:p>
          <a:p>
            <a:pPr algn="just">
              <a:buFont typeface="Arial" panose="020B0604020202020204" pitchFamily="34" charset="0"/>
              <a:buChar char="•"/>
            </a:pPr>
            <a:r>
              <a:rPr lang="en-IN" sz="2400" dirty="0"/>
              <a:t>Extend the system to support large-scale distributed file sharing.</a:t>
            </a:r>
          </a:p>
        </p:txBody>
      </p:sp>
    </p:spTree>
    <p:extLst>
      <p:ext uri="{BB962C8B-B14F-4D97-AF65-F5344CB8AC3E}">
        <p14:creationId xmlns:p14="http://schemas.microsoft.com/office/powerpoint/2010/main" val="1341423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28831" y="1422998"/>
            <a:ext cx="8111639" cy="5181600"/>
          </a:xfrm>
          <a:prstGeom prst="rect">
            <a:avLst/>
          </a:prstGeom>
        </p:spPr>
        <p:txBody>
          <a:bodyPr>
            <a:noAutofit/>
          </a:bodyPr>
          <a:lstStyle/>
          <a:p>
            <a:r>
              <a:rPr lang="en-GB" sz="2400" b="1" dirty="0"/>
              <a:t>Conclusion:</a:t>
            </a:r>
          </a:p>
          <a:p>
            <a:endParaRPr lang="en-GB" sz="2400" b="1" dirty="0"/>
          </a:p>
          <a:p>
            <a:pPr algn="just"/>
            <a:r>
              <a:rPr lang="en-GB" sz="2200" dirty="0"/>
              <a:t>The P2P File Sharing App provides a decentralized approach to file distribution, eliminating the need for central servers. It effectively demonstrates networking, concurrency, and synchronization principles in an applied environment. The system achieves efficient data transfer, integrity verification, and parallel communication between multiple peers.</a:t>
            </a:r>
          </a:p>
        </p:txBody>
      </p:sp>
    </p:spTree>
    <p:extLst>
      <p:ext uri="{BB962C8B-B14F-4D97-AF65-F5344CB8AC3E}">
        <p14:creationId xmlns:p14="http://schemas.microsoft.com/office/powerpoint/2010/main" val="1676764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14</a:t>
            </a:fld>
            <a:endParaRPr lang="en-IN"/>
          </a:p>
        </p:txBody>
      </p:sp>
      <p:sp>
        <p:nvSpPr>
          <p:cNvPr id="5" name="Rounded Rectangle 4"/>
          <p:cNvSpPr/>
          <p:nvPr/>
        </p:nvSpPr>
        <p:spPr>
          <a:xfrm>
            <a:off x="1329688" y="906488"/>
            <a:ext cx="9963152" cy="4390878"/>
          </a:xfrm>
          <a:prstGeom prst="roundRect">
            <a:avLst/>
          </a:prstGeom>
          <a:solidFill>
            <a:srgbClr val="CD8D0D"/>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6600" b="1" dirty="0">
                <a:solidFill>
                  <a:schemeClr val="tx1"/>
                </a:solidFill>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solidFill>
                <a:schemeClr val="tx1"/>
              </a:solidFill>
              <a:latin typeface="Poppins" pitchFamily="2" charset="77"/>
              <a:cs typeface="Poppins" pitchFamily="2" charset="77"/>
            </a:endParaRPr>
          </a:p>
          <a:p>
            <a:pPr algn="ctr"/>
            <a:endParaRPr lang="en-US" sz="3600" b="1" dirty="0">
              <a:solidFill>
                <a:schemeClr val="tx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0305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OS-CO1_S3</Template>
  <TotalTime>455</TotalTime>
  <Words>951</Words>
  <Application>Microsoft Office PowerPoint</Application>
  <PresentationFormat>Widescreen</PresentationFormat>
  <Paragraphs>129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Gill Sans MT</vt:lpstr>
      <vt:lpstr>Poppins</vt:lpstr>
      <vt:lpstr>Times New Roman</vt:lpstr>
      <vt:lpstr>Gallery</vt:lpstr>
      <vt:lpstr>COURSE NAME : Operating Systems      EVEN SEM.  2025-2026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 Operating Systems  COURSE CODE: 21CS2109RA</dc:title>
  <dc:creator>S N V J Devi Kosuru</dc:creator>
  <cp:lastModifiedBy>hanumandla niranjan reddy</cp:lastModifiedBy>
  <cp:revision>204</cp:revision>
  <dcterms:created xsi:type="dcterms:W3CDTF">2023-05-09T04:20:00Z</dcterms:created>
  <dcterms:modified xsi:type="dcterms:W3CDTF">2026-04-07T06:56:22Z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92E7857490A041DFAB3417B3BBDF0A88_12</vt:lpwstr>
  </property>
  <property fmtid="{D5CDD505-2E9C-101B-9397-08002B2CF9AE}" pid="3" name="KSOProductBuildVer">
    <vt:lpwstr>1033-12.2.0.23155</vt:lpwstr>
  </property>
</Properties>
</file>